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44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3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881052" y="139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PRESENTATION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81052" y="2012277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MIGRATION STRATEGIES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881052" y="27405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Moving Enterprise Applications to the Cloud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9CE185-2BD0-5AD5-8EB9-E6D045736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4" y="70260"/>
            <a:ext cx="11921066" cy="105434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8" name="Rectangle 17"/>
          <p:cNvSpPr/>
          <p:nvPr/>
        </p:nvSpPr>
        <p:spPr>
          <a:xfrm>
            <a:off x="8934995" y="5423215"/>
            <a:ext cx="26822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Preethi R (192511352)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3734" y="3633766"/>
            <a:ext cx="8021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1506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-CLOUD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AND DATA ANALYASIS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7061" y="5198165"/>
            <a:ext cx="4663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Antony </a:t>
            </a:r>
            <a:r>
              <a:rPr lang="en-IN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Joesph</a:t>
            </a:r>
            <a:r>
              <a:rPr lang="en-IN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Rajan</a:t>
            </a:r>
            <a:r>
              <a:rPr lang="en-IN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Migration: More Than Moving Servers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migration is the process of moving enterprise applications, data and IT workloads from local data centers to cloud environments.</a:t>
            </a:r>
            <a:endParaRPr lang="en-US" sz="2400" dirty="0"/>
          </a:p>
        </p:txBody>
      </p:sp>
      <p:sp>
        <p:nvSpPr>
          <p:cNvPr id="6" name="Card"/>
          <p:cNvSpPr/>
          <p:nvPr/>
        </p:nvSpPr>
        <p:spPr>
          <a:xfrm>
            <a:off x="548640" y="29260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6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BEFORE: ON-PREMISES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Company-owned servers • Fixed capacity • Hardware maintenance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4402836" y="29260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436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MIGRATION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31436" y="388620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 • Plan • Move • Test</a:t>
            </a:r>
            <a:endParaRPr lang="en-US" sz="2400" dirty="0"/>
          </a:p>
        </p:txBody>
      </p:sp>
      <p:sp>
        <p:nvSpPr>
          <p:cNvPr id="12" name="Card"/>
          <p:cNvSpPr/>
          <p:nvPr/>
        </p:nvSpPr>
        <p:spPr>
          <a:xfrm>
            <a:off x="8257032" y="29260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85632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AFTER: CLOUD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85632" y="388620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On-demand resources • Managed services • Flexible scaling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005072" y="4251960"/>
            <a:ext cx="320040" cy="365760"/>
          </a:xfrm>
          <a:prstGeom prst="rightArrow">
            <a:avLst/>
          </a:prstGeom>
          <a:solidFill>
            <a:srgbClr val="BBC9DC"/>
          </a:solidFill>
          <a:ln w="12700">
            <a:solidFill>
              <a:srgbClr val="BBC9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59268" y="4251960"/>
            <a:ext cx="320040" cy="365760"/>
          </a:xfrm>
          <a:prstGeom prst="rightArrow">
            <a:avLst/>
          </a:prstGeom>
          <a:solidFill>
            <a:srgbClr val="BBC9DC"/>
          </a:solidFill>
          <a:ln w="12700">
            <a:solidFill>
              <a:srgbClr val="BBC9D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Enterprises Migrate?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274320" cy="274320"/>
          </a:xfrm>
          <a:prstGeom prst="ellipse">
            <a:avLst/>
          </a:prstGeom>
          <a:solidFill>
            <a:srgbClr val="3077EB"/>
          </a:solidFill>
          <a:ln w="12700">
            <a:solidFill>
              <a:srgbClr val="307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1508760"/>
            <a:ext cx="10085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growing workloads without buying new physical servers.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548640" y="246888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743200"/>
            <a:ext cx="274320" cy="274320"/>
          </a:xfrm>
          <a:prstGeom prst="ellipse">
            <a:avLst/>
          </a:prstGeom>
          <a:solidFill>
            <a:srgbClr val="49D8E0"/>
          </a:solidFill>
          <a:ln w="12700">
            <a:solidFill>
              <a:srgbClr val="49D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468880"/>
            <a:ext cx="10085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services faster and support users across different locations.</a:t>
            </a:r>
            <a:endParaRPr lang="en-US" sz="2400" dirty="0"/>
          </a:p>
        </p:txBody>
      </p:sp>
      <p:sp>
        <p:nvSpPr>
          <p:cNvPr id="11" name="Card"/>
          <p:cNvSpPr/>
          <p:nvPr/>
        </p:nvSpPr>
        <p:spPr>
          <a:xfrm>
            <a:off x="548640" y="342900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03320"/>
            <a:ext cx="274320" cy="274320"/>
          </a:xfrm>
          <a:prstGeom prst="ellipse">
            <a:avLst/>
          </a:prstGeom>
          <a:solidFill>
            <a:srgbClr val="56DAA5"/>
          </a:solidFill>
          <a:ln w="12700">
            <a:solidFill>
              <a:srgbClr val="56DA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429000"/>
            <a:ext cx="10085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 backup, recovery and access to modern cloud technologies.</a:t>
            </a:r>
            <a:endParaRPr lang="en-US" sz="2400" dirty="0"/>
          </a:p>
        </p:txBody>
      </p:sp>
      <p:sp>
        <p:nvSpPr>
          <p:cNvPr id="14" name="Card"/>
          <p:cNvSpPr/>
          <p:nvPr/>
        </p:nvSpPr>
        <p:spPr>
          <a:xfrm>
            <a:off x="548640" y="457200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091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B9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206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company moves its employee management system from an office server to a cloud-hosted application.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Migration Strategies: The “6 Rs” (1 of 2)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07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REHOST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Lift and shift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with minimal code changes. Fast, but may carry old inefficiencies into the cloud.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4311396" y="15087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9996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REPLATFORM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39996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improvements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39996" y="25146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 limited changes, such as switching to a managed database service.</a:t>
            </a:r>
            <a:endParaRPr lang="en-US" sz="2400" dirty="0"/>
          </a:p>
        </p:txBody>
      </p:sp>
      <p:sp>
        <p:nvSpPr>
          <p:cNvPr id="13" name="Card"/>
          <p:cNvSpPr/>
          <p:nvPr/>
        </p:nvSpPr>
        <p:spPr>
          <a:xfrm>
            <a:off x="8074152" y="15087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2752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REFACTOR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Redesign for cloud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25146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Rebuild around cloud-native services, containers or microservices for greater flexibility.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Migration Strategies: The “6 Rs” (2 of 2)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B9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REPURCHASE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Replace with SaaS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Adopt a ready-made cloud product instead of maintaining the existing application.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4311396" y="150876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9996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B91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39996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for now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39996" y="25146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an application on-premises when rules, cost or technical dependencies require it.</a:t>
            </a:r>
            <a:endParaRPr lang="en-US" sz="2400" dirty="0"/>
          </a:p>
        </p:txBody>
      </p:sp>
      <p:sp>
        <p:nvSpPr>
          <p:cNvPr id="13" name="Card"/>
          <p:cNvSpPr/>
          <p:nvPr/>
        </p:nvSpPr>
        <p:spPr>
          <a:xfrm>
            <a:off x="8074152" y="150876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2752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6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RETIRE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 unused apps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25146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Decommission applications that no longer provide business value.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93776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choice depends on business urgency, application complexity, security needs and budget.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Migration Roadmap: From Assessment to Optimization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07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applications, data and dependencies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2795778" y="15087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8658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978658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978658" y="25146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cloud, strategy and security controls</a:t>
            </a:r>
            <a:endParaRPr lang="en-US" sz="2400" dirty="0"/>
          </a:p>
        </p:txBody>
      </p:sp>
      <p:sp>
        <p:nvSpPr>
          <p:cNvPr id="13" name="Card"/>
          <p:cNvSpPr/>
          <p:nvPr/>
        </p:nvSpPr>
        <p:spPr>
          <a:xfrm>
            <a:off x="5042916" y="15087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25796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225796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225796" y="25146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workloads in controlled phases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7290054" y="15087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72934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B9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472934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472934" y="25146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data, function, performance and security</a:t>
            </a:r>
            <a:endParaRPr lang="en-US" sz="2400" dirty="0"/>
          </a:p>
        </p:txBody>
      </p:sp>
      <p:sp>
        <p:nvSpPr>
          <p:cNvPr id="21" name="Card"/>
          <p:cNvSpPr/>
          <p:nvPr/>
        </p:nvSpPr>
        <p:spPr>
          <a:xfrm>
            <a:off x="9537192" y="15087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20072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B91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720072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720072" y="25146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Monitor, right-size and improve</a:t>
            </a:r>
            <a:endParaRPr lang="en-US" sz="2400" dirty="0"/>
          </a:p>
        </p:txBody>
      </p:sp>
      <p:sp>
        <p:nvSpPr>
          <p:cNvPr id="25" name="Card"/>
          <p:cNvSpPr/>
          <p:nvPr/>
        </p:nvSpPr>
        <p:spPr>
          <a:xfrm>
            <a:off x="548640" y="470916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800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B9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SKIP THE SAFETY NET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166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Backups • Communication plan • Rollback option • Clear success metrics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532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pilot migration helps reveal problems before the most critical systems are moved.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Inside a Typical Cloud Architecture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three-tier application separates user access, business logic and data storage.</a:t>
            </a:r>
            <a:endParaRPr lang="en-US" sz="2400" dirty="0"/>
          </a:p>
        </p:txBody>
      </p:sp>
      <p:sp>
        <p:nvSpPr>
          <p:cNvPr id="6" name="Card"/>
          <p:cNvSpPr/>
          <p:nvPr/>
        </p:nvSpPr>
        <p:spPr>
          <a:xfrm>
            <a:off x="4114800" y="1463040"/>
            <a:ext cx="7525512" cy="804672"/>
          </a:xfrm>
          <a:prstGeom prst="roundRect">
            <a:avLst>
              <a:gd name="adj" fmla="val 13636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146304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7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/ CLIENTS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• Mobile • API clients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4114800" y="2359152"/>
            <a:ext cx="7525512" cy="804672"/>
          </a:xfrm>
          <a:prstGeom prst="roundRect">
            <a:avLst>
              <a:gd name="adj" fmla="val 13636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2359152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+ LOAD BALANCER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DNS • TLS • Firewall • Traffic distribution</a:t>
            </a:r>
            <a:endParaRPr lang="en-US" sz="2400" dirty="0"/>
          </a:p>
        </p:txBody>
      </p:sp>
      <p:sp>
        <p:nvSpPr>
          <p:cNvPr id="10" name="Card"/>
          <p:cNvSpPr/>
          <p:nvPr/>
        </p:nvSpPr>
        <p:spPr>
          <a:xfrm>
            <a:off x="4114800" y="3255264"/>
            <a:ext cx="7525512" cy="804672"/>
          </a:xfrm>
          <a:prstGeom prst="roundRect">
            <a:avLst>
              <a:gd name="adj" fmla="val 13636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3255264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LAYER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 machines • Containers • Serverless • Auto-scaling</a:t>
            </a:r>
            <a:endParaRPr lang="en-US" sz="2400" dirty="0"/>
          </a:p>
        </p:txBody>
      </p:sp>
      <p:sp>
        <p:nvSpPr>
          <p:cNvPr id="12" name="Card"/>
          <p:cNvSpPr/>
          <p:nvPr/>
        </p:nvSpPr>
        <p:spPr>
          <a:xfrm>
            <a:off x="4114800" y="4151376"/>
            <a:ext cx="7525512" cy="804672"/>
          </a:xfrm>
          <a:prstGeom prst="roundRect">
            <a:avLst>
              <a:gd name="adj" fmla="val 13636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4151376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9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LAYER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Managed database • Object storage • Backups</a:t>
            </a:r>
            <a:endParaRPr lang="en-US" sz="2400" dirty="0"/>
          </a:p>
        </p:txBody>
      </p:sp>
      <p:sp>
        <p:nvSpPr>
          <p:cNvPr id="14" name="Card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16636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B91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+ OPERATIONS ACROSS ALL LAYERS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and access • Encryption • Logging • Monitoring • Disaster recovery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Decisions That Matter (1 of 2)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07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 machines support legacy apps; containers improve portability; serverless suits event-driven tasks.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4311396" y="15087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9996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&amp; STORAGE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39996" y="210312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databases and storage based on data size, latency, consistency, backup and recovery needs.</a:t>
            </a:r>
            <a:endParaRPr lang="en-US" sz="2400" dirty="0"/>
          </a:p>
        </p:txBody>
      </p:sp>
      <p:sp>
        <p:nvSpPr>
          <p:cNvPr id="11" name="Card"/>
          <p:cNvSpPr/>
          <p:nvPr/>
        </p:nvSpPr>
        <p:spPr>
          <a:xfrm>
            <a:off x="8074152" y="15087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210312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regions, subnets, DNS, private connectivity, traffic routing and data transfer.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Decisions That Matter (2 of 2)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6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least-privilege access, encryption in transit and at rest, and audit logging.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4311396" y="15087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9996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B9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39996" y="24688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redundancy, health checks, load balancing, backups and tested disaster recovery.</a:t>
            </a:r>
            <a:endParaRPr lang="en-US" sz="2400" dirty="0"/>
          </a:p>
        </p:txBody>
      </p:sp>
      <p:sp>
        <p:nvSpPr>
          <p:cNvPr id="11" name="Card"/>
          <p:cNvSpPr/>
          <p:nvPr/>
        </p:nvSpPr>
        <p:spPr>
          <a:xfrm>
            <a:off x="8074152" y="15087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B91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OPERATIONS &amp; COST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24688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 logs and metrics, automate infrastructure, set budgets and remove idle resources.</a:t>
            </a:r>
            <a:endParaRPr lang="en-US" sz="2400" dirty="0"/>
          </a:p>
        </p:txBody>
      </p:sp>
      <p:sp>
        <p:nvSpPr>
          <p:cNvPr id="14" name="Card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074920"/>
            <a:ext cx="10543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around required service levels—not just around completing the data transfer.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 Are Real—but So Are the Trade-offs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CLOUD CAN IMPROVE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983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Elastic capacity for changing demand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provisioning and software releases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upfront hardware investment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Managed backup and recovery options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to analytics, AI and other services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6199632" y="150876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28232" y="1645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B9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TEAMS MUST MANAGE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2103120"/>
            <a:ext cx="4983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Security, privacy and compliance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Downtime or data loss during cutover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Legacy software compatibility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Unexpected bills and vendor lock-in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gaps and changes to team workflows</a:t>
            </a:r>
            <a:endParaRPr lang="en-US" sz="2400" dirty="0"/>
          </a:p>
        </p:txBody>
      </p:sp>
      <p:sp>
        <p:nvSpPr>
          <p:cNvPr id="11" name="Card"/>
          <p:cNvSpPr/>
          <p:nvPr/>
        </p:nvSpPr>
        <p:spPr>
          <a:xfrm>
            <a:off x="548640" y="530352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30352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POINT: </a:t>
            </a: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does not automatically mean cheaper or safer; good design and governance make the difference.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EXAMPLE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Study: How Netflix Moved to AWS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Netflix’s challenge was not simply to store videos online. It needed an infrastructure that could support a rapidly growing global audience and recover more effectively when systems failed.</a:t>
            </a:r>
            <a:endParaRPr lang="en-US" sz="2400" dirty="0"/>
          </a:p>
        </p:txBody>
      </p:sp>
      <p:sp>
        <p:nvSpPr>
          <p:cNvPr id="6" name="Card"/>
          <p:cNvSpPr/>
          <p:nvPr/>
        </p:nvSpPr>
        <p:spPr>
          <a:xfrm>
            <a:off x="548640" y="278892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6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|  THE PROBLEM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2008, a database corruption incident disrupted DVD shipping. It exposed the risk of relying on systems that could not easily scale or recover.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6634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07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|  THE STRATEGY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7492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Netflix began a gradual move to Amazon Web Services (AWS), shifting infrastructure and redesigning services instead of attempting one risky, all-at-once move.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EXAMPLE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07442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188721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|  THE TECHNICAL CHANGE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059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increasingly adopted distributed systems and microservices, allowing parts of the platform to scale and be updated more independently.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MIGRATION JOURNEY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4023360"/>
            <a:ext cx="10817352" cy="0"/>
          </a:xfrm>
          <a:prstGeom prst="line">
            <a:avLst/>
          </a:prstGeom>
          <a:noFill/>
          <a:ln w="25400">
            <a:solidFill>
              <a:srgbClr val="364E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FFB958"/>
          </a:solidFill>
          <a:ln w="12700">
            <a:solidFill>
              <a:srgbClr val="FFB9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B9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2008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incident revealed resilience risks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97680" y="3886200"/>
            <a:ext cx="274320" cy="274320"/>
          </a:xfrm>
          <a:prstGeom prst="ellipse">
            <a:avLst/>
          </a:prstGeom>
          <a:solidFill>
            <a:srgbClr val="3077EB"/>
          </a:solidFill>
          <a:ln w="12700">
            <a:solidFill>
              <a:srgbClr val="307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07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MIGRATION YEARS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709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in stages; redesign systems for cloud operations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46720" y="3886200"/>
            <a:ext cx="274320" cy="274320"/>
          </a:xfrm>
          <a:prstGeom prst="ellipse">
            <a:avLst/>
          </a:prstGeom>
          <a:solidFill>
            <a:srgbClr val="56DAA5"/>
          </a:solidFill>
          <a:ln w="12700">
            <a:solidFill>
              <a:srgbClr val="56DA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 2016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709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Netflix announced that its cloud migration was complete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PRACTICES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Make a Migration Successful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7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630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 first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463040"/>
            <a:ext cx="5971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 dependencies, data sensitivity, cost and performance needs.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548640" y="2340864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4086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34086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in waves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340864"/>
            <a:ext cx="5971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with a low-risk pilot, learn from it, then migrate critical systems.</a:t>
            </a:r>
            <a:endParaRPr lang="en-US" sz="2400" dirty="0"/>
          </a:p>
        </p:txBody>
      </p:sp>
      <p:sp>
        <p:nvSpPr>
          <p:cNvPr id="13" name="Card"/>
          <p:cNvSpPr/>
          <p:nvPr/>
        </p:nvSpPr>
        <p:spPr>
          <a:xfrm>
            <a:off x="548640" y="3218688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1868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1868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for rollback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218688"/>
            <a:ext cx="5971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backups, validate data and define how to return to the old system.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548640" y="4096512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09651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9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09651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 repeatable work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4096512"/>
            <a:ext cx="5971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Infrastructure as Code, CI/CD and standard security policies.</a:t>
            </a:r>
            <a:endParaRPr lang="en-US" sz="2400" dirty="0"/>
          </a:p>
        </p:txBody>
      </p:sp>
      <p:sp>
        <p:nvSpPr>
          <p:cNvPr id="21" name="Card"/>
          <p:cNvSpPr/>
          <p:nvPr/>
        </p:nvSpPr>
        <p:spPr>
          <a:xfrm>
            <a:off x="548640" y="4974336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974336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B91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97433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the outcome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4974336"/>
            <a:ext cx="5971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uptime, response time, security findings and cost after migration.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 means business continuity + security + performance + cost control.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AF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Conclusion: Migrate with a Purpose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635508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migration is not simply a server move—it is an opportunity to improve how an enterprise builds and runs applications.</a:t>
            </a:r>
            <a:endParaRPr lang="en-US" sz="2400" dirty="0"/>
          </a:p>
        </p:txBody>
      </p:sp>
      <p:sp>
        <p:nvSpPr>
          <p:cNvPr id="6" name="Card"/>
          <p:cNvSpPr/>
          <p:nvPr/>
        </p:nvSpPr>
        <p:spPr>
          <a:xfrm>
            <a:off x="548640" y="246888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07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WISELY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each application's migration strategy to its needs.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4311396" y="246888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9996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9D8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SECURELY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39996" y="3429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in access control, resilience and monitoring.</a:t>
            </a:r>
            <a:endParaRPr lang="en-US" sz="2400" dirty="0"/>
          </a:p>
        </p:txBody>
      </p:sp>
      <p:sp>
        <p:nvSpPr>
          <p:cNvPr id="12" name="Card"/>
          <p:cNvSpPr/>
          <p:nvPr/>
        </p:nvSpPr>
        <p:spPr>
          <a:xfrm>
            <a:off x="8074152" y="246888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182C4D"/>
          </a:solidFill>
          <a:ln w="12700">
            <a:solidFill>
              <a:srgbClr val="364E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2752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6D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 CONTINUOUSLY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3429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BC9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 performance, reliability and cost after launch.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424686" y="2803585"/>
            <a:ext cx="4968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06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714" y="261257"/>
            <a:ext cx="5862320" cy="62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0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1024</Words>
  <Application>Microsoft Office PowerPoint</Application>
  <PresentationFormat>Widescreen</PresentationFormat>
  <Paragraphs>182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Migration Strategies</dc:title>
  <dc:subject>PptxGenJS Presentation</dc:subject>
  <dc:creator>PptxGenJS</dc:creator>
  <cp:lastModifiedBy>ADMIN</cp:lastModifiedBy>
  <cp:revision>8</cp:revision>
  <dcterms:created xsi:type="dcterms:W3CDTF">2026-10-14T14:13:22Z</dcterms:created>
  <dcterms:modified xsi:type="dcterms:W3CDTF">2026-10-15T09:00:47Z</dcterms:modified>
</cp:coreProperties>
</file>